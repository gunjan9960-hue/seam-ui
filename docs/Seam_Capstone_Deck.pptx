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</p:sldIdLst>
  <p:sldSz cx="12188952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463040"/>
            <a:ext cx="548640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8000" b="1" i="0">
                <a:solidFill>
                  <a:srgbClr val="FFFFFF"/>
                </a:solidFill>
              </a:rPr>
              <a:t>seam.</a:t>
            </a:r>
          </a:p>
        </p:txBody>
      </p:sp>
      <p:sp>
        <p:nvSpPr>
          <p:cNvPr id="3" name="Oval 2"/>
          <p:cNvSpPr/>
          <p:nvPr/>
        </p:nvSpPr>
        <p:spPr>
          <a:xfrm>
            <a:off x="4301344" y="1768456"/>
            <a:ext cx="29248" cy="29248"/>
          </a:xfrm>
          <a:prstGeom prst="ellipse">
            <a:avLst/>
          </a:prstGeom>
          <a:solidFill>
            <a:srgbClr val="4F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834640"/>
            <a:ext cx="73152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0A8B8"/>
                </a:solidFill>
              </a:rPr>
              <a:t>AI Search Layer for Product Managers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52044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611880"/>
            <a:ext cx="5486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8B8"/>
                </a:solidFill>
              </a:rPr>
              <a:t>Capstone Project  ·  Cohort 6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194560" cy="347472"/>
          </a:xfrm>
          <a:prstGeom prst="rect">
            <a:avLst/>
          </a:prstGeom>
          <a:solidFill>
            <a:srgbClr val="4F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THE PROBLEM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91440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PMs are drowning in context-switching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50876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920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F6BF5"/>
                </a:solidFill>
              </a:rPr>
              <a:t>25 min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697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8B8"/>
                </a:solidFill>
              </a:rPr>
              <a:t>lost per context switch
across tools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389119" y="1920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F6BF5"/>
                </a:solidFill>
              </a:rPr>
              <a:t>66%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19" y="2697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8B8"/>
                </a:solidFill>
              </a:rPr>
              <a:t>PM time spent on
manual information work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138158" y="1920240"/>
            <a:ext cx="292608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4200" b="1" i="0">
                <a:solidFill>
                  <a:srgbClr val="4F6BF5"/>
                </a:solidFill>
              </a:rPr>
              <a:t>3–6 wks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138158" y="2697480"/>
            <a:ext cx="292608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8B8"/>
                </a:solidFill>
              </a:rPr>
              <a:t>to build context
when joining a new product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640080" y="3931920"/>
            <a:ext cx="10515600" cy="7315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600" b="0" i="1">
                <a:solidFill>
                  <a:srgbClr val="A0A8B8"/>
                </a:solidFill>
              </a:rPr>
              <a:t>The answer lives in Notion. The context is in Jira. The escalation is in Slack. The decision is in a Google Doc nobody updated.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40080" y="4846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6BF5"/>
                </a:solidFill>
              </a:rPr>
              <a:t>PM CHECKLIST  ·  Phase 1: Problem Definition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40080" y="5166360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D399"/>
                </a:solidFill>
              </a:rPr>
              <a:t>✓  Quantify the pain with real numbers   ✓  Identify who feels it most   ✓  Confirm it is worth solving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194560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1 · DISCOVERY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Who we are building for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5303520" cy="2560320"/>
          </a:xfrm>
          <a:prstGeom prst="rect">
            <a:avLst/>
          </a:prstGeom>
          <a:solidFill>
            <a:srgbClr val="1A1D27"/>
          </a:solidFill>
          <a:ln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38100" cy="2560320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👤  Primary Persona — The B2B SaaS PM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75688"/>
            <a:ext cx="502920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Name: Priya / Rajan  ·  Exp: 2–6 years in product
Company: Series A–C SaaS startup, 50–300 employees
Tools: Notion + Jira + Slack + Google Docs (all 4)
Pain: Spends 2–3 hrs/day digging for context before decisions
Goal: Answer stakeholder questions confidently in &lt;1 min
Trigger: Joins new product or cross-functional project</a:t>
            </a:r>
          </a:p>
        </p:txBody>
      </p:sp>
      <p:sp>
        <p:nvSpPr>
          <p:cNvPr id="9" name="Rectangle 8"/>
          <p:cNvSpPr/>
          <p:nvPr/>
        </p:nvSpPr>
        <p:spPr>
          <a:xfrm>
            <a:off x="6126480" y="1600200"/>
            <a:ext cx="5394960" cy="2560320"/>
          </a:xfrm>
          <a:prstGeom prst="rect">
            <a:avLst/>
          </a:prstGeom>
          <a:solidFill>
            <a:srgbClr val="1A1D27"/>
          </a:solidFill>
          <a:ln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126480" y="1600200"/>
            <a:ext cx="38100" cy="2560320"/>
          </a:xfrm>
          <a:prstGeom prst="rect">
            <a:avLst/>
          </a:prstGeom>
          <a:solidFill>
            <a:srgbClr val="4F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327648" y="1737360"/>
            <a:ext cx="512064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🧠  Key Insight from Research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327648" y="2075688"/>
            <a:ext cx="5120640" cy="20116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PMs don't need more tools — they need fewer tabs
The bottleneck is retrieval, not reasoning
'I know the answer is somewhere' = 25 min search
Trust the answer only when it shows the source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177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6BF5"/>
                </a:solidFill>
              </a:rPr>
              <a:t>PM CHECKLIST  ·  Phase 1: User Research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56048"/>
            <a:ext cx="109728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D399"/>
                </a:solidFill>
              </a:rPr>
              <a:t>✓  Define primary persona clearly   ✓  Separate 'nice to have' from 'critical pain'   ✓  Quote users verbatim in the doc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194560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1 · MARKET SIZING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000" b="1" i="0">
                <a:solidFill>
                  <a:srgbClr val="FFFFFF"/>
                </a:solidFill>
              </a:rPr>
              <a:t>The market is large — and underserved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640080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A8B8"/>
                </a:solidFill>
              </a:rPr>
              <a:t>TAM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640080" y="2194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4F6BF5"/>
                </a:solidFill>
              </a:rPr>
              <a:t>$4.2B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40080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8B8"/>
                </a:solidFill>
              </a:rPr>
              <a:t>All PM productivity tools
globally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389119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A8B8"/>
                </a:solidFill>
              </a:rPr>
              <a:t>SAM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389119" y="2194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4F6BF5"/>
                </a:solidFill>
              </a:rPr>
              <a:t>$420M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389119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8B8"/>
                </a:solidFill>
              </a:rPr>
              <a:t>B2B SaaS PMs with
Notion+Jira+Slack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138158" y="1828800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A8B8"/>
                </a:solidFill>
              </a:rPr>
              <a:t>SOM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8138158" y="2194560"/>
            <a:ext cx="32004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3800" b="1" i="0">
                <a:solidFill>
                  <a:srgbClr val="4F6BF5"/>
                </a:solidFill>
              </a:rPr>
              <a:t>$12M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138158" y="2834640"/>
            <a:ext cx="32004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A0A8B8"/>
                </a:solidFill>
              </a:rPr>
              <a:t>India-based B2B SaaS PMs
at Series A–C startups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40080" y="4114800"/>
            <a:ext cx="10789920" cy="1645920"/>
          </a:xfrm>
          <a:prstGeom prst="rect">
            <a:avLst/>
          </a:prstGeom>
          <a:solidFill>
            <a:srgbClr val="1A1D27"/>
          </a:solidFill>
          <a:ln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Rectangle 14"/>
          <p:cNvSpPr/>
          <p:nvPr/>
        </p:nvSpPr>
        <p:spPr>
          <a:xfrm>
            <a:off x="640080" y="4114800"/>
            <a:ext cx="38100" cy="1645920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41248" y="4251960"/>
            <a:ext cx="10515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Why India B2B SaaS PMs First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41248" y="4590288"/>
            <a:ext cx="105156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~18,000 PMs at Series A–C SaaS companies
High tool adoption (all 4 tools) = richest corpus
Low existing AI-in-PM-workflow penetration
English-first, tool-native, high willingness to pay ($15–40/mo)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6BF5"/>
                </a:solidFill>
              </a:rPr>
              <a:t>PM CHECKLIST  ·  Phase 1: Market Sizing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0292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D399"/>
                </a:solidFill>
              </a:rPr>
              <a:t>✓  TAM/SAM/SOM with defensible assumptions   ✓  Know your beachhead segment deeply   ✓  Name 3 competitors and their gap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194560" cy="347472"/>
          </a:xfrm>
          <a:prstGeom prst="rect">
            <a:avLst/>
          </a:prstGeom>
          <a:solidFill>
            <a:srgbClr val="A78BF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1 · COMPETITIVE ANALYSIS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Competitors exist — but none solve this exactly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103120" cy="1828800"/>
          </a:xfrm>
          <a:prstGeom prst="rect">
            <a:avLst/>
          </a:prstGeom>
          <a:solidFill>
            <a:srgbClr val="1A1D27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7171"/>
                </a:solidFill>
              </a:rPr>
              <a:t>Notion AI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57200" y="28346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</a:rPr>
              <a:t>In-doc AI only
Can't search across Jira/Slack</a:t>
            </a:r>
          </a:p>
        </p:txBody>
      </p:sp>
      <p:sp>
        <p:nvSpPr>
          <p:cNvPr id="7" name="Rectangle 6"/>
          <p:cNvSpPr/>
          <p:nvPr/>
        </p:nvSpPr>
        <p:spPr>
          <a:xfrm>
            <a:off x="2651760" y="1828800"/>
            <a:ext cx="2103120" cy="1828800"/>
          </a:xfrm>
          <a:prstGeom prst="rect">
            <a:avLst/>
          </a:prstGeom>
          <a:solidFill>
            <a:srgbClr val="1A1D27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CD34D"/>
                </a:solidFill>
              </a:rPr>
              <a:t>Guru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2743200" y="28346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</a:rPr>
              <a:t>Knowledge base tool
Requires manual curation</a:t>
            </a:r>
          </a:p>
        </p:txBody>
      </p:sp>
      <p:sp>
        <p:nvSpPr>
          <p:cNvPr id="9" name="Rectangle 8"/>
          <p:cNvSpPr/>
          <p:nvPr/>
        </p:nvSpPr>
        <p:spPr>
          <a:xfrm>
            <a:off x="4937760" y="1828800"/>
            <a:ext cx="2103120" cy="1828800"/>
          </a:xfrm>
          <a:prstGeom prst="rect">
            <a:avLst/>
          </a:prstGeom>
          <a:solidFill>
            <a:srgbClr val="1A1D27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CD34D"/>
                </a:solidFill>
              </a:rPr>
              <a:t>Glean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029200" y="28346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</a:rPr>
              <a:t>Enterprise search
No PM-specific intent layer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223760" y="1828800"/>
            <a:ext cx="2103120" cy="1828800"/>
          </a:xfrm>
          <a:prstGeom prst="rect">
            <a:avLst/>
          </a:prstGeom>
          <a:solidFill>
            <a:srgbClr val="1A1D27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F87171"/>
                </a:solidFill>
              </a:rPr>
              <a:t>ChatGPT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315200" y="28346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</a:rPr>
              <a:t>No source attribution
Hallucinates context</a:t>
            </a:r>
          </a:p>
        </p:txBody>
      </p:sp>
      <p:sp>
        <p:nvSpPr>
          <p:cNvPr id="13" name="Rectangle 12"/>
          <p:cNvSpPr/>
          <p:nvPr/>
        </p:nvSpPr>
        <p:spPr>
          <a:xfrm>
            <a:off x="9509760" y="1828800"/>
            <a:ext cx="2103120" cy="1828800"/>
          </a:xfrm>
          <a:prstGeom prst="rect">
            <a:avLst/>
          </a:prstGeom>
          <a:solidFill>
            <a:srgbClr val="1A1D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300" b="1">
                <a:solidFill>
                  <a:srgbClr val="34D399"/>
                </a:solidFill>
              </a:rPr>
              <a:t>seam.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9601200" y="2834640"/>
            <a:ext cx="192024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100" b="0" i="0">
                <a:solidFill>
                  <a:srgbClr val="A0A8B8"/>
                </a:solidFill>
              </a:rPr>
              <a:t>Cross-tool search
PM intents · Cited answers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502920" y="4572000"/>
            <a:ext cx="10972800" cy="6400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0" i="1">
                <a:solidFill>
                  <a:srgbClr val="FFFFFF"/>
                </a:solidFill>
              </a:rPr>
              <a:t>Key differentiator: Seam is the only tool that combines cross-tool retrieval + PM-intent classification + cited answers in one query.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502920" y="54864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6BF5"/>
                </a:solidFill>
              </a:rPr>
              <a:t>PM CHECKLIST  ·  Phase 1: Competitive Analysis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2920" y="580644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D399"/>
                </a:solidFill>
              </a:rPr>
              <a:t>✓  2x2 positioning matrix   ✓  Name the exact gap you exploit   ✓  Know why leaders haven't filled it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194560" cy="347472"/>
          </a:xfrm>
          <a:prstGeom prst="rect">
            <a:avLst/>
          </a:prstGeom>
          <a:solidFill>
            <a:srgbClr val="4F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2 · MVP DEFINITION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decided to build — and what we cut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5486400" cy="2651760"/>
          </a:xfrm>
          <a:prstGeom prst="rect">
            <a:avLst/>
          </a:prstGeom>
          <a:solidFill>
            <a:srgbClr val="1A1D27"/>
          </a:solidFill>
          <a:ln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502920" y="1600200"/>
            <a:ext cx="38100" cy="2651760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704088" y="1737360"/>
            <a:ext cx="521208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✅  IN SCOPE (MVP)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04088" y="2075688"/>
            <a:ext cx="521208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Cross-tool search: Notion, Jira, Slack, Google Docs
7 PM-intent types with dynamic follow-up suggestions
Single cited answer with source cards + freshness warning
Ambiguity detection for short/vague queries
Conversation history (multi-turn follow-ups)</a:t>
            </a:r>
          </a:p>
        </p:txBody>
      </p:sp>
      <p:sp>
        <p:nvSpPr>
          <p:cNvPr id="9" name="Rectangle 8"/>
          <p:cNvSpPr/>
          <p:nvPr/>
        </p:nvSpPr>
        <p:spPr>
          <a:xfrm>
            <a:off x="6309360" y="1600200"/>
            <a:ext cx="5303520" cy="2651760"/>
          </a:xfrm>
          <a:prstGeom prst="rect">
            <a:avLst/>
          </a:prstGeom>
          <a:solidFill>
            <a:srgbClr val="1A1D27"/>
          </a:solidFill>
          <a:ln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Rectangle 9"/>
          <p:cNvSpPr/>
          <p:nvPr/>
        </p:nvSpPr>
        <p:spPr>
          <a:xfrm>
            <a:off x="6309360" y="1600200"/>
            <a:ext cx="38100" cy="2651760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510528" y="1737360"/>
            <a:ext cx="50292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❌  OUT OF SCOPE (MVP)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6510528" y="2075688"/>
            <a:ext cx="5029200" cy="2103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Real-time connector sync (static corpus for Phase 4)
Native mobile app
User auth / multi-workspace support
PRD generator (Phase 3 feature, deprioritised)
Slack bot / Jira plugin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02920" y="46634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6BF5"/>
                </a:solidFill>
              </a:rPr>
              <a:t>PM CHECKLIST  ·  Phase 2: Scoping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4983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D399"/>
                </a:solidFill>
              </a:rPr>
              <a:t>✓  Explicit 'In/Out of scope' list   ✓  Each cut item has a reason   ✓  MVP delivers the core value loop end-to-end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194560" cy="347472"/>
          </a:xfrm>
          <a:prstGeom prst="rect">
            <a:avLst/>
          </a:prstGeom>
          <a:solidFill>
            <a:srgbClr val="4F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2 · SUCCESS METRICS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we know if we shipped the right thing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02920" y="1645920"/>
            <a:ext cx="25603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8B8"/>
                </a:solidFill>
              </a:rPr>
              <a:t>Metric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108960" y="1645920"/>
            <a:ext cx="13716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8B8"/>
                </a:solidFill>
              </a:rPr>
              <a:t>Target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572000" y="1645920"/>
            <a:ext cx="4114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8B8"/>
                </a:solidFill>
              </a:rPr>
              <a:t>Definition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686800" y="1645920"/>
            <a:ext cx="22860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A0A8B8"/>
                </a:solidFill>
              </a:rPr>
              <a:t>v1 Result</a:t>
            </a:r>
          </a:p>
        </p:txBody>
      </p:sp>
      <p:sp>
        <p:nvSpPr>
          <p:cNvPr id="9" name="Rectangle 8"/>
          <p:cNvSpPr/>
          <p:nvPr/>
        </p:nvSpPr>
        <p:spPr>
          <a:xfrm>
            <a:off x="0" y="201168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502920" y="2057400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Answer Relevance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108960" y="2057400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6BF5"/>
                </a:solidFill>
              </a:rPr>
              <a:t>≥ 85%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72000" y="2057400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Does it answer the question?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8686800" y="2057400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4.8/5 ✓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02920" y="2441448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Citation Accuracy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108960" y="2441448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6BF5"/>
                </a:solidFill>
              </a:rPr>
              <a:t>≥ 90%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572000" y="2441448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Are claims backed by sources?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686800" y="2441448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5.0/5 ✓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2920" y="2825496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Hallucination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3108960" y="2825496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6BF5"/>
                </a:solidFill>
              </a:rPr>
              <a:t>&lt; 5%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572000" y="2825496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Are all facts from indexed docs?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8686800" y="2825496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4.9/5 ✓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3209544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Total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3108960" y="3209544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6BF5"/>
                </a:solidFill>
              </a:rPr>
              <a:t>&lt; 10 sec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572000" y="3209544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Time from query to full answer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686800" y="3209544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8.7s ✓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3593592"/>
            <a:ext cx="256032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Gen Latency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3108960" y="3593592"/>
            <a:ext cx="13716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4F6BF5"/>
                </a:solidFill>
              </a:rPr>
              <a:t>&lt; 6 sec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4572000" y="3593592"/>
            <a:ext cx="41148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LLM generation time alone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86800" y="3593592"/>
            <a:ext cx="22860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7.3s ✗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6BF5"/>
                </a:solidFill>
              </a:rPr>
              <a:t>PM CHECKLIST  ·  Phase 2: Metrics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50292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D399"/>
                </a:solidFill>
              </a:rPr>
              <a:t>✓  Define metrics BEFORE building   ✓  Each metric is measurable   ✓  Know who owns each metric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19456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3 · ARCHITECTURE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Seam works under the hood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828800"/>
            <a:ext cx="2103120" cy="1737360"/>
          </a:xfrm>
          <a:prstGeom prst="rect">
            <a:avLst/>
          </a:prstGeom>
          <a:solidFill>
            <a:srgbClr val="1A1D27"/>
          </a:solidFill>
          <a:ln>
            <a:solidFill>
              <a:srgbClr val="4F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029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4F6BF5"/>
                </a:solidFill>
              </a:rPr>
              <a:t>1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0292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Query In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02920" y="267004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PM types a question
in natural language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251460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A8B8"/>
                </a:solidFill>
              </a:rPr>
              <a:t>→</a:t>
            </a:r>
          </a:p>
        </p:txBody>
      </p:sp>
      <p:sp>
        <p:nvSpPr>
          <p:cNvPr id="10" name="Rectangle 9"/>
          <p:cNvSpPr/>
          <p:nvPr/>
        </p:nvSpPr>
        <p:spPr>
          <a:xfrm>
            <a:off x="2651760" y="1828800"/>
            <a:ext cx="2103120" cy="1737360"/>
          </a:xfrm>
          <a:prstGeom prst="rect">
            <a:avLst/>
          </a:prstGeom>
          <a:solidFill>
            <a:srgbClr val="1A1D27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27889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A78BFA"/>
                </a:solidFill>
              </a:rPr>
              <a:t>2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278892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Intent Detect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788920" y="267004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7 PM intents classified
(decision, spec, customer…)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80060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A8B8"/>
                </a:solidFill>
              </a:rPr>
              <a:t>→</a:t>
            </a:r>
          </a:p>
        </p:txBody>
      </p:sp>
      <p:sp>
        <p:nvSpPr>
          <p:cNvPr id="15" name="Rectangle 14"/>
          <p:cNvSpPr/>
          <p:nvPr/>
        </p:nvSpPr>
        <p:spPr>
          <a:xfrm>
            <a:off x="4937760" y="1828800"/>
            <a:ext cx="2103120" cy="1737360"/>
          </a:xfrm>
          <a:prstGeom prst="rect">
            <a:avLst/>
          </a:prstGeom>
          <a:solidFill>
            <a:srgbClr val="1A1D27"/>
          </a:solidFill>
          <a:ln>
            <a:solidFill>
              <a:srgbClr val="60A5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50749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60A5FA"/>
                </a:solidFill>
              </a:rPr>
              <a:t>3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507492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Hybrid RAG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5074920" y="267004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BM25 + Voyage AI embeddings
+ RRF + Re-ranking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708660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A8B8"/>
                </a:solidFill>
              </a:rPr>
              <a:t>→</a:t>
            </a:r>
          </a:p>
        </p:txBody>
      </p:sp>
      <p:sp>
        <p:nvSpPr>
          <p:cNvPr id="20" name="Rectangle 19"/>
          <p:cNvSpPr/>
          <p:nvPr/>
        </p:nvSpPr>
        <p:spPr>
          <a:xfrm>
            <a:off x="7223760" y="1828800"/>
            <a:ext cx="2103120" cy="1737360"/>
          </a:xfrm>
          <a:prstGeom prst="rect">
            <a:avLst/>
          </a:prstGeom>
          <a:solidFill>
            <a:srgbClr val="1A1D27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73609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FCD34D"/>
                </a:solidFill>
              </a:rPr>
              <a:t>4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36092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Generate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7360920" y="267004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Claude Sonnet 4.6
with intent-aware prompt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72600" y="2377440"/>
            <a:ext cx="27432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800" b="0" i="0">
                <a:solidFill>
                  <a:srgbClr val="A0A8B8"/>
                </a:solidFill>
              </a:rPr>
              <a:t>→</a:t>
            </a:r>
          </a:p>
        </p:txBody>
      </p:sp>
      <p:sp>
        <p:nvSpPr>
          <p:cNvPr id="25" name="Rectangle 24"/>
          <p:cNvSpPr/>
          <p:nvPr/>
        </p:nvSpPr>
        <p:spPr>
          <a:xfrm>
            <a:off x="9509760" y="1828800"/>
            <a:ext cx="2103120" cy="1737360"/>
          </a:xfrm>
          <a:prstGeom prst="rect">
            <a:avLst/>
          </a:prstGeom>
          <a:solidFill>
            <a:srgbClr val="1A1D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9646920" y="1920240"/>
            <a:ext cx="3657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1" i="0">
                <a:solidFill>
                  <a:srgbClr val="34D399"/>
                </a:solidFill>
              </a:rPr>
              <a:t>5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646920" y="2331720"/>
            <a:ext cx="1828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FFFFF"/>
                </a:solidFill>
              </a:rPr>
              <a:t>Answer Out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9646920" y="2670048"/>
            <a:ext cx="182880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Cited answer + source cards
+ freshness warning</a:t>
            </a:r>
          </a:p>
        </p:txBody>
      </p:sp>
      <p:sp>
        <p:nvSpPr>
          <p:cNvPr id="29" name="Rectangle 28"/>
          <p:cNvSpPr/>
          <p:nvPr/>
        </p:nvSpPr>
        <p:spPr>
          <a:xfrm>
            <a:off x="502920" y="3840480"/>
            <a:ext cx="11064240" cy="1828800"/>
          </a:xfrm>
          <a:prstGeom prst="rect">
            <a:avLst/>
          </a:prstGeom>
          <a:solidFill>
            <a:srgbClr val="1A1D27"/>
          </a:solidFill>
          <a:ln>
            <a:solidFill>
              <a:srgbClr val="2A2D3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0" name="Rectangle 29"/>
          <p:cNvSpPr/>
          <p:nvPr/>
        </p:nvSpPr>
        <p:spPr>
          <a:xfrm>
            <a:off x="502920" y="3840480"/>
            <a:ext cx="38100" cy="1828800"/>
          </a:xfrm>
          <a:prstGeom prst="rect">
            <a:avLst/>
          </a:prstGeom>
          <a:solidFill>
            <a:srgbClr val="4F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1" name="TextBox 30"/>
          <p:cNvSpPr txBox="1"/>
          <p:nvPr/>
        </p:nvSpPr>
        <p:spPr>
          <a:xfrm>
            <a:off x="704088" y="3977640"/>
            <a:ext cx="1078992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Key Technical Decisions &amp; Why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04088" y="4315968"/>
            <a:ext cx="10789920" cy="12801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Hybrid RAG (BM25 + embeddings) &gt; pure embeddings — better keyword recall for PM terms
Voyage AI rerank-2 — cuts noise, especially for ambiguous 1-2 word queries
Intent-aware prompts — reduces answer length by 30%, improves relevance
43 documents indexed — enough for a real PM workflow (not a toy demo)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502920" y="598932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6BF5"/>
                </a:solidFill>
              </a:rPr>
              <a:t>PM CHECKLIST  ·  Phase 3: Architecture Decisions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502920" y="630936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D399"/>
                </a:solidFill>
              </a:rPr>
              <a:t>✓  Know why each tech choice was made   ✓  Document trade-offs   ✓  Be able to explain it in 60 seconds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194560" cy="347472"/>
          </a:xfrm>
          <a:prstGeom prst="rect">
            <a:avLst/>
          </a:prstGeom>
          <a:solidFill>
            <a:srgbClr val="FCD34D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3 · RISK REGISTER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Every PM must own the risk register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411480" y="1645920"/>
            <a:ext cx="4572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8B8"/>
                </a:solidFill>
              </a:rPr>
              <a:t>ID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914400" y="1645920"/>
            <a:ext cx="1828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8B8"/>
                </a:solidFill>
              </a:rPr>
              <a:t>Risk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834640" y="1645920"/>
            <a:ext cx="32004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8B8"/>
                </a:solidFill>
              </a:rPr>
              <a:t>Description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126480" y="1645920"/>
            <a:ext cx="36576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8B8"/>
                </a:solidFill>
              </a:rPr>
              <a:t>Mitigation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875520" y="1645920"/>
            <a:ext cx="164592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900" b="1" i="0">
                <a:solidFill>
                  <a:srgbClr val="A0A8B8"/>
                </a:solidFill>
              </a:rPr>
              <a:t>Status</a:t>
            </a:r>
          </a:p>
        </p:txBody>
      </p:sp>
      <p:sp>
        <p:nvSpPr>
          <p:cNvPr id="10" name="Rectangle 9"/>
          <p:cNvSpPr/>
          <p:nvPr/>
        </p:nvSpPr>
        <p:spPr>
          <a:xfrm>
            <a:off x="0" y="196596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11480" y="200253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A1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914400" y="200253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Hallucination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2834640" y="200253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</a:rPr>
              <a:t>Answer contains facts not in sources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6126480" y="200253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</a:rPr>
              <a:t>Verified against full docs in eval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9875520" y="200253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✓ Mitigated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11480" y="2386584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D34D"/>
                </a:solidFill>
              </a:rPr>
              <a:t>A2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914400" y="238658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Wrong Retrieval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2834640" y="238658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</a:rPr>
              <a:t>Correct intent, wrong docs retrieved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126480" y="238658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</a:rPr>
              <a:t>Hybrid RAG + re-rank reduces this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9875520" y="238658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D34D"/>
                </a:solidFill>
              </a:rPr>
              <a:t>⚠ In Progress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411480" y="2770632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D34D"/>
                </a:solidFill>
              </a:rPr>
              <a:t>A3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914400" y="2770632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Intent Misclassification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834640" y="2770632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</a:rPr>
              <a:t>'Build vs buy' parsed as wrong intent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6126480" y="2770632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</a:rPr>
              <a:t>Add ambiguity detection (v2 fix)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875520" y="2770632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D34D"/>
                </a:solidFill>
              </a:rPr>
              <a:t>⚠ In Progress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411480" y="3154680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A4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14400" y="3154680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Stale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2834640" y="3154680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</a:rPr>
              <a:t>Docs not synced, answer is outdated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6126480" y="3154680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</a:rPr>
              <a:t>Freshness warning shown to user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9875520" y="3154680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✓ Mitigated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411480" y="3538728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U1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914400" y="3538728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Trust Gap</a:t>
            </a:r>
          </a:p>
        </p:txBody>
      </p:sp>
      <p:sp>
        <p:nvSpPr>
          <p:cNvPr id="33" name="TextBox 32"/>
          <p:cNvSpPr txBox="1"/>
          <p:nvPr/>
        </p:nvSpPr>
        <p:spPr>
          <a:xfrm>
            <a:off x="2834640" y="3538728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</a:rPr>
              <a:t>PM doesn't trust AI without sources</a:t>
            </a:r>
          </a:p>
        </p:txBody>
      </p:sp>
      <p:sp>
        <p:nvSpPr>
          <p:cNvPr id="34" name="TextBox 33"/>
          <p:cNvSpPr txBox="1"/>
          <p:nvPr/>
        </p:nvSpPr>
        <p:spPr>
          <a:xfrm>
            <a:off x="6126480" y="3538728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</a:rPr>
              <a:t>Every answer has source cards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9875520" y="3538728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✓ Mitigated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411480" y="3922776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D34D"/>
                </a:solidFill>
              </a:rPr>
              <a:t>U2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914400" y="3922776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Answer Length Mismatch</a:t>
            </a:r>
          </a:p>
        </p:txBody>
      </p:sp>
      <p:sp>
        <p:nvSpPr>
          <p:cNvPr id="38" name="TextBox 37"/>
          <p:cNvSpPr txBox="1"/>
          <p:nvPr/>
        </p:nvSpPr>
        <p:spPr>
          <a:xfrm>
            <a:off x="2834640" y="3922776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</a:rPr>
              <a:t>Too long for simple / too short for complex</a:t>
            </a:r>
          </a:p>
        </p:txBody>
      </p:sp>
      <p:sp>
        <p:nvSpPr>
          <p:cNvPr id="39" name="TextBox 38"/>
          <p:cNvSpPr txBox="1"/>
          <p:nvPr/>
        </p:nvSpPr>
        <p:spPr>
          <a:xfrm>
            <a:off x="6126480" y="3922776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</a:rPr>
              <a:t>Intent-adaptive max_tokens (v2)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9875520" y="3922776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FCD34D"/>
                </a:solidFill>
              </a:rPr>
              <a:t>⚠ In Progress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411480" y="4306824"/>
            <a:ext cx="4572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U3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914400" y="4306824"/>
            <a:ext cx="18288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FFFFF"/>
                </a:solidFill>
              </a:rPr>
              <a:t>Follow-up Irrelevant</a:t>
            </a:r>
          </a:p>
        </p:txBody>
      </p:sp>
      <p:sp>
        <p:nvSpPr>
          <p:cNvPr id="43" name="TextBox 42"/>
          <p:cNvSpPr txBox="1"/>
          <p:nvPr/>
        </p:nvSpPr>
        <p:spPr>
          <a:xfrm>
            <a:off x="2834640" y="4306824"/>
            <a:ext cx="32004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</a:rPr>
              <a:t>Suggestions don't match the query</a:t>
            </a:r>
          </a:p>
        </p:txBody>
      </p:sp>
      <p:sp>
        <p:nvSpPr>
          <p:cNvPr id="44" name="TextBox 43"/>
          <p:cNvSpPr txBox="1"/>
          <p:nvPr/>
        </p:nvSpPr>
        <p:spPr>
          <a:xfrm>
            <a:off x="6126480" y="4306824"/>
            <a:ext cx="365760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0" i="0">
                <a:solidFill>
                  <a:srgbClr val="A0A8B8"/>
                </a:solidFill>
              </a:rPr>
              <a:t>Per-intent dynamic follow-ups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9875520" y="4306824"/>
            <a:ext cx="1645920" cy="329184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34D399"/>
                </a:solidFill>
              </a:rPr>
              <a:t>✓ Mitigated</a:t>
            </a:r>
          </a:p>
        </p:txBody>
      </p:sp>
      <p:sp>
        <p:nvSpPr>
          <p:cNvPr id="46" name="TextBox 45"/>
          <p:cNvSpPr txBox="1"/>
          <p:nvPr/>
        </p:nvSpPr>
        <p:spPr>
          <a:xfrm>
            <a:off x="411480" y="60350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6BF5"/>
                </a:solidFill>
              </a:rPr>
              <a:t>PM CHECKLIST  ·  Risk Management</a:t>
            </a:r>
          </a:p>
        </p:txBody>
      </p:sp>
      <p:sp>
        <p:nvSpPr>
          <p:cNvPr id="47" name="TextBox 46"/>
          <p:cNvSpPr txBox="1"/>
          <p:nvPr/>
        </p:nvSpPr>
        <p:spPr>
          <a:xfrm>
            <a:off x="411480" y="6327648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D399"/>
                </a:solidFill>
              </a:rPr>
              <a:t>✓  7 risks across AI, UX, and data layers   ✓  Each has owner + mitigation   ✓  Tracked as living doc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194560" cy="3474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4 · EVAL METHODOLOGY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How we proved it works — 3 scoring methods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91640"/>
            <a:ext cx="3474720" cy="3108960"/>
          </a:xfrm>
          <a:prstGeom prst="rect">
            <a:avLst/>
          </a:prstGeom>
          <a:solidFill>
            <a:srgbClr val="1A1D27"/>
          </a:solidFill>
          <a:ln>
            <a:solidFill>
              <a:srgbClr val="4F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4F6BF5"/>
                </a:solidFill>
              </a:rPr>
              <a:t>A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85800" y="2331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Automated
LLM-as-Judge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85800" y="29260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Claude Haiku scores every answer
on 3 dimensions against full source docs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685800" y="374903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4F6BF5"/>
                </a:solidFill>
              </a:rPr>
              <a:t>Fast · Consistent · Scales to 20 queries in minutes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4343400" y="1691640"/>
            <a:ext cx="3474720" cy="3108960"/>
          </a:xfrm>
          <a:prstGeom prst="rect">
            <a:avLst/>
          </a:prstGeom>
          <a:solidFill>
            <a:srgbClr val="1A1D27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452628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A78BFA"/>
                </a:solidFill>
              </a:rPr>
              <a:t>B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526280" y="2331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Manual
Human Scoring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26280" y="29260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PM scores same 20 queries independently
Ground truth baseline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26280" y="374903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78BFA"/>
                </a:solidFill>
              </a:rPr>
              <a:t>Catches what LLM misses · Adds business context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8183880" y="1691640"/>
            <a:ext cx="3474720" cy="3108960"/>
          </a:xfrm>
          <a:prstGeom prst="rect">
            <a:avLst/>
          </a:prstGeom>
          <a:solidFill>
            <a:srgbClr val="1A1D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8366760" y="1783080"/>
            <a:ext cx="54864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600" b="1" i="0">
                <a:solidFill>
                  <a:srgbClr val="34D399"/>
                </a:solidFill>
              </a:rPr>
              <a:t>C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366760" y="2331720"/>
            <a:ext cx="310896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500" b="1" i="0">
                <a:solidFill>
                  <a:srgbClr val="FFFFFF"/>
                </a:solidFill>
              </a:rPr>
              <a:t>Hybrid
Comparison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8366760" y="2926080"/>
            <a:ext cx="3108960" cy="7772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Compare A vs B · Flag disagreements ≥2 pts
as edge cases to investigate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366760" y="3749039"/>
            <a:ext cx="3108960" cy="8229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34D399"/>
                </a:solidFill>
              </a:rPr>
              <a:t>Identifies model blind spots · Informs v2 fixes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02920" y="49834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A0A8B8"/>
                </a:solidFill>
              </a:rPr>
              <a:t>20 queries · 5 categories · 3 metrics per query = 300 data points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502920" y="55778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6BF5"/>
                </a:solidFill>
              </a:rPr>
              <a:t>PM CHECKLIST  ·  Phase 4: Eval Design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502920" y="5897880"/>
            <a:ext cx="109728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D399"/>
                </a:solidFill>
              </a:rPr>
              <a:t>✓  Define eval before shipping   ✓  Mix automated + human scoring   ✓  Represent real user queries across 5 categories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194560" cy="347472"/>
          </a:xfrm>
          <a:prstGeom prst="rect">
            <a:avLst/>
          </a:prstGeom>
          <a:solidFill>
            <a:srgbClr val="F87171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4 · RESULTS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v1 Results — 5 of 6 metrics passed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365760" y="1600200"/>
            <a:ext cx="3566160" cy="1645920"/>
          </a:xfrm>
          <a:prstGeom prst="rect">
            <a:avLst/>
          </a:prstGeom>
          <a:solidFill>
            <a:srgbClr val="1A1D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530352" y="1737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A8B8"/>
                </a:solidFill>
              </a:rPr>
              <a:t>Answer Relevance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0756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4D399"/>
                </a:solidFill>
              </a:rPr>
              <a:t>4.8 / 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606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Target ≥ 3.5</a:t>
            </a:r>
          </a:p>
        </p:txBody>
      </p:sp>
      <p:sp>
        <p:nvSpPr>
          <p:cNvPr id="9" name="Rectangle 8"/>
          <p:cNvSpPr/>
          <p:nvPr/>
        </p:nvSpPr>
        <p:spPr>
          <a:xfrm>
            <a:off x="4297680" y="1600200"/>
            <a:ext cx="3566160" cy="1645920"/>
          </a:xfrm>
          <a:prstGeom prst="rect">
            <a:avLst/>
          </a:prstGeom>
          <a:solidFill>
            <a:srgbClr val="1A1D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4462272" y="1737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A8B8"/>
                </a:solidFill>
              </a:rPr>
              <a:t>Citation Accuracy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462272" y="20756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4D399"/>
                </a:solidFill>
              </a:rPr>
              <a:t>5.0 / 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62272" y="2606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Target ≥ 4.0</a:t>
            </a:r>
          </a:p>
        </p:txBody>
      </p:sp>
      <p:sp>
        <p:nvSpPr>
          <p:cNvPr id="13" name="Rectangle 12"/>
          <p:cNvSpPr/>
          <p:nvPr/>
        </p:nvSpPr>
        <p:spPr>
          <a:xfrm>
            <a:off x="8229600" y="1600200"/>
            <a:ext cx="3566160" cy="1645920"/>
          </a:xfrm>
          <a:prstGeom prst="rect">
            <a:avLst/>
          </a:prstGeom>
          <a:solidFill>
            <a:srgbClr val="1A1D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8394192" y="173736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A8B8"/>
                </a:solidFill>
              </a:rPr>
              <a:t>Hallucination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8394192" y="207568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4D399"/>
                </a:solidFill>
              </a:rPr>
              <a:t>4.9 / 5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394192" y="260604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Target ≥ 4.0</a:t>
            </a:r>
          </a:p>
        </p:txBody>
      </p:sp>
      <p:sp>
        <p:nvSpPr>
          <p:cNvPr id="17" name="Rectangle 16"/>
          <p:cNvSpPr/>
          <p:nvPr/>
        </p:nvSpPr>
        <p:spPr>
          <a:xfrm>
            <a:off x="365760" y="3566160"/>
            <a:ext cx="3566160" cy="1645920"/>
          </a:xfrm>
          <a:prstGeom prst="rect">
            <a:avLst/>
          </a:prstGeom>
          <a:solidFill>
            <a:srgbClr val="1A1D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530352" y="3703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A8B8"/>
                </a:solidFill>
              </a:rPr>
              <a:t>Retrieval Speed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530352" y="40416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4D399"/>
                </a:solidFill>
              </a:rPr>
              <a:t>1,397 ms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530352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Target &lt; 4,000ms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4297680" y="3566160"/>
            <a:ext cx="3566160" cy="1645920"/>
          </a:xfrm>
          <a:prstGeom prst="rect">
            <a:avLst/>
          </a:prstGeom>
          <a:solidFill>
            <a:srgbClr val="1A1D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4462272" y="3703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A8B8"/>
                </a:solidFill>
              </a:rPr>
              <a:t>Total Latency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462272" y="40416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34D399"/>
                </a:solidFill>
              </a:rPr>
              <a:t>8,734 ms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4462272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Target &lt; 10,000ms</a:t>
            </a:r>
          </a:p>
        </p:txBody>
      </p:sp>
      <p:sp>
        <p:nvSpPr>
          <p:cNvPr id="25" name="Rectangle 24"/>
          <p:cNvSpPr/>
          <p:nvPr/>
        </p:nvSpPr>
        <p:spPr>
          <a:xfrm>
            <a:off x="8229600" y="3566160"/>
            <a:ext cx="3566160" cy="1645920"/>
          </a:xfrm>
          <a:prstGeom prst="rect">
            <a:avLst/>
          </a:prstGeom>
          <a:solidFill>
            <a:srgbClr val="1A1D27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6" name="TextBox 25"/>
          <p:cNvSpPr txBox="1"/>
          <p:nvPr/>
        </p:nvSpPr>
        <p:spPr>
          <a:xfrm>
            <a:off x="8394192" y="3703320"/>
            <a:ext cx="3200400" cy="347472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A0A8B8"/>
                </a:solidFill>
              </a:rPr>
              <a:t>Gen Latency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94192" y="4041648"/>
            <a:ext cx="3200400" cy="5029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87171"/>
                </a:solidFill>
              </a:rPr>
              <a:t>7,336 ms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8394192" y="4572000"/>
            <a:ext cx="32004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Target &lt; 6,000ms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502920" y="5623560"/>
            <a:ext cx="10972800" cy="6858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FFFFFF"/>
                </a:solidFill>
              </a:rPr>
              <a:t>✓ PASS — Seam v1 is production-quality on all quality metrics.
⚠ Generation latency fails on complex multi-part queries (16–20s). Fixed in v2 with adaptive token capping.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194560" cy="347472"/>
          </a:xfrm>
          <a:prstGeom prst="rect">
            <a:avLst/>
          </a:prstGeom>
          <a:solidFill>
            <a:srgbClr val="F8711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4 · EDGE CASES &amp; LEARNINGS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109728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4 edge cases — and what they taught us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00200"/>
            <a:ext cx="11064240" cy="1051560"/>
          </a:xfrm>
          <a:prstGeom prst="rect">
            <a:avLst/>
          </a:prstGeom>
          <a:solidFill>
            <a:srgbClr val="1A1D27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0992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87171"/>
                </a:solidFill>
              </a:rPr>
              <a:t>Q2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1325880" y="1709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Permissions Acceptance Criteria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663440" y="16916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Problem: LLM invented a Jira reference that isn't indexed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8503920" y="1691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87171"/>
                </a:solidFill>
              </a:rPr>
              <a:t>Fix: Never speculate — only cite indexed sources</a:t>
            </a:r>
          </a:p>
        </p:txBody>
      </p:sp>
      <p:sp>
        <p:nvSpPr>
          <p:cNvPr id="10" name="Rectangle 9"/>
          <p:cNvSpPr/>
          <p:nvPr/>
        </p:nvSpPr>
        <p:spPr>
          <a:xfrm>
            <a:off x="502920" y="2743200"/>
            <a:ext cx="11064240" cy="1051560"/>
          </a:xfrm>
          <a:prstGeom prst="rect">
            <a:avLst/>
          </a:prstGeom>
          <a:solidFill>
            <a:srgbClr val="1A1D27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685800" y="285292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D34D"/>
                </a:solidFill>
              </a:rPr>
              <a:t>Q3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325880" y="2852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Walmart Escalation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63440" y="28346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Problem: Slack data partial — LLM gave H=5, human gave H=3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8503920" y="2834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D34D"/>
                </a:solidFill>
              </a:rPr>
              <a:t>Fix: Flag Slack-heavy answers with completeness caveat</a:t>
            </a:r>
          </a:p>
        </p:txBody>
      </p:sp>
      <p:sp>
        <p:nvSpPr>
          <p:cNvPr id="15" name="Rectangle 14"/>
          <p:cNvSpPr/>
          <p:nvPr/>
        </p:nvSpPr>
        <p:spPr>
          <a:xfrm>
            <a:off x="502920" y="3886200"/>
            <a:ext cx="11064240" cy="1051560"/>
          </a:xfrm>
          <a:prstGeom prst="rect">
            <a:avLst/>
          </a:prstGeom>
          <a:solidFill>
            <a:srgbClr val="1A1D27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6" name="TextBox 15"/>
          <p:cNvSpPr txBox="1"/>
          <p:nvPr/>
        </p:nvSpPr>
        <p:spPr>
          <a:xfrm>
            <a:off x="685800" y="399592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D34D"/>
                </a:solidFill>
              </a:rPr>
              <a:t>Q4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1325880" y="3995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Build vs Buy Analysis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63440" y="39776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Problem: Ambiguous query — which product? LLM assumed correctly but shouldn't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8503920" y="3977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D34D"/>
                </a:solidFill>
              </a:rPr>
              <a:t>Fix: Trigger clarification chips for build vs buy queries</a:t>
            </a:r>
          </a:p>
        </p:txBody>
      </p:sp>
      <p:sp>
        <p:nvSpPr>
          <p:cNvPr id="20" name="Rectangle 19"/>
          <p:cNvSpPr/>
          <p:nvPr/>
        </p:nvSpPr>
        <p:spPr>
          <a:xfrm>
            <a:off x="502920" y="5029200"/>
            <a:ext cx="11064240" cy="1051560"/>
          </a:xfrm>
          <a:prstGeom prst="rect">
            <a:avLst/>
          </a:prstGeom>
          <a:solidFill>
            <a:srgbClr val="1A1D27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TextBox 20"/>
          <p:cNvSpPr txBox="1"/>
          <p:nvPr/>
        </p:nvSpPr>
        <p:spPr>
          <a:xfrm>
            <a:off x="685800" y="5138928"/>
            <a:ext cx="54864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CD34D"/>
                </a:solidFill>
              </a:rPr>
              <a:t>Q10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325880" y="5138928"/>
            <a:ext cx="320040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1" i="0">
                <a:solidFill>
                  <a:srgbClr val="FFFFFF"/>
                </a:solidFill>
              </a:rPr>
              <a:t>Compare Review Engine vs Visual UGC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4663440" y="5120640"/>
            <a:ext cx="3749039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Problem: No per-source attribution — hard to verify which claim came from where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503920" y="5120640"/>
            <a:ext cx="2926080" cy="4114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FCD34D"/>
                </a:solidFill>
              </a:rPr>
              <a:t>Fix: Prefix each subject's facts with [Source Title]: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17220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6BF5"/>
                </a:solidFill>
              </a:rPr>
              <a:t>PM CHECKLIST  ·  Phase 4: Edge Cases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492240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D399"/>
                </a:solidFill>
              </a:rPr>
              <a:t>✓  Every edge case has a root cause   ✓  Maps to a specific risk from Phase 3   ✓  Each fix shipped in v2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502920" y="256032"/>
            <a:ext cx="2194560" cy="347472"/>
          </a:xfrm>
          <a:prstGeom prst="rect">
            <a:avLst/>
          </a:prstGeom>
          <a:solidFill>
            <a:srgbClr val="34D399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sz="1000" b="1">
                <a:solidFill>
                  <a:srgbClr val="FFFFFF"/>
                </a:solidFill>
              </a:rPr>
              <a:t>PHASE 4 · V2 IMPROVEMENTS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2920" y="777240"/>
            <a:ext cx="9144000" cy="5486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What we fixed based on eval learnings</a:t>
            </a:r>
          </a:p>
        </p:txBody>
      </p:sp>
      <p:sp>
        <p:nvSpPr>
          <p:cNvPr id="4" name="Rectangle 3"/>
          <p:cNvSpPr/>
          <p:nvPr/>
        </p:nvSpPr>
        <p:spPr>
          <a:xfrm>
            <a:off x="0" y="141732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502920" y="1664208"/>
            <a:ext cx="11064240" cy="868680"/>
          </a:xfrm>
          <a:prstGeom prst="rect">
            <a:avLst/>
          </a:prstGeom>
          <a:solidFill>
            <a:srgbClr val="1A1D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685800" y="1755648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34D399"/>
                </a:solidFill>
              </a:rPr>
              <a:t>P0 · Critical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2651760" y="1755648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'Not found' no longer guesses where info lives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406640" y="1755648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Eliminates hallucination risk on unanswered queries</a:t>
            </a:r>
          </a:p>
        </p:txBody>
      </p:sp>
      <p:sp>
        <p:nvSpPr>
          <p:cNvPr id="9" name="Rectangle 8"/>
          <p:cNvSpPr/>
          <p:nvPr/>
        </p:nvSpPr>
        <p:spPr>
          <a:xfrm>
            <a:off x="502920" y="2615184"/>
            <a:ext cx="11064240" cy="868680"/>
          </a:xfrm>
          <a:prstGeom prst="rect">
            <a:avLst/>
          </a:prstGeom>
          <a:solidFill>
            <a:srgbClr val="1A1D27"/>
          </a:solidFill>
          <a:ln>
            <a:solidFill>
              <a:srgbClr val="4F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0" name="TextBox 9"/>
          <p:cNvSpPr txBox="1"/>
          <p:nvPr/>
        </p:nvSpPr>
        <p:spPr>
          <a:xfrm>
            <a:off x="685800" y="2706624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6BF5"/>
                </a:solidFill>
              </a:rPr>
              <a:t>P1 · High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651760" y="2706624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Build vs buy → ambiguity suggestions fired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406640" y="2706624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PM sees clarification chips, picks the right analysis</a:t>
            </a:r>
          </a:p>
        </p:txBody>
      </p:sp>
      <p:sp>
        <p:nvSpPr>
          <p:cNvPr id="13" name="Rectangle 12"/>
          <p:cNvSpPr/>
          <p:nvPr/>
        </p:nvSpPr>
        <p:spPr>
          <a:xfrm>
            <a:off x="502920" y="3566160"/>
            <a:ext cx="11064240" cy="868680"/>
          </a:xfrm>
          <a:prstGeom prst="rect">
            <a:avLst/>
          </a:prstGeom>
          <a:solidFill>
            <a:srgbClr val="1A1D27"/>
          </a:solidFill>
          <a:ln>
            <a:solidFill>
              <a:srgbClr val="4F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TextBox 13"/>
          <p:cNvSpPr txBox="1"/>
          <p:nvPr/>
        </p:nvSpPr>
        <p:spPr>
          <a:xfrm>
            <a:off x="685800" y="3657600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4F6BF5"/>
                </a:solidFill>
              </a:rPr>
              <a:t>P2 · High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2651760" y="3657600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Compare answers attribute each fact to its source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406640" y="3657600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[Review Engine PRD v3.0]: … / [Visual UGC Decision]: …</a:t>
            </a:r>
          </a:p>
        </p:txBody>
      </p:sp>
      <p:sp>
        <p:nvSpPr>
          <p:cNvPr id="17" name="Rectangle 16"/>
          <p:cNvSpPr/>
          <p:nvPr/>
        </p:nvSpPr>
        <p:spPr>
          <a:xfrm>
            <a:off x="502920" y="4517136"/>
            <a:ext cx="11064240" cy="868680"/>
          </a:xfrm>
          <a:prstGeom prst="rect">
            <a:avLst/>
          </a:prstGeom>
          <a:solidFill>
            <a:srgbClr val="1A1D27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8" name="TextBox 17"/>
          <p:cNvSpPr txBox="1"/>
          <p:nvPr/>
        </p:nvSpPr>
        <p:spPr>
          <a:xfrm>
            <a:off x="685800" y="4608576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D34D"/>
                </a:solidFill>
              </a:rPr>
              <a:t>P3 · Medium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2651760" y="4608576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Adaptive max_tokens: 500 (simple) / 800 (complex)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7406640" y="4608576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~35% faster for single-intent queries</a:t>
            </a:r>
          </a:p>
        </p:txBody>
      </p:sp>
      <p:sp>
        <p:nvSpPr>
          <p:cNvPr id="21" name="Rectangle 20"/>
          <p:cNvSpPr/>
          <p:nvPr/>
        </p:nvSpPr>
        <p:spPr>
          <a:xfrm>
            <a:off x="502920" y="5468112"/>
            <a:ext cx="11064240" cy="868680"/>
          </a:xfrm>
          <a:prstGeom prst="rect">
            <a:avLst/>
          </a:prstGeom>
          <a:solidFill>
            <a:srgbClr val="1A1D27"/>
          </a:solidFill>
          <a:ln>
            <a:solidFill>
              <a:srgbClr val="FCD34D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TextBox 21"/>
          <p:cNvSpPr txBox="1"/>
          <p:nvPr/>
        </p:nvSpPr>
        <p:spPr>
          <a:xfrm>
            <a:off x="685800" y="5559552"/>
            <a:ext cx="182880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>
                <a:solidFill>
                  <a:srgbClr val="FCD34D"/>
                </a:solidFill>
              </a:rPr>
              <a:t>P4 · Medium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2651760" y="5559552"/>
            <a:ext cx="466344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FFFFFF"/>
                </a:solidFill>
              </a:rPr>
              <a:t>Slack-heavy answers flagged with completeness caveat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7406640" y="5559552"/>
            <a:ext cx="4023360" cy="3657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0" i="0">
                <a:solidFill>
                  <a:srgbClr val="A0A8B8"/>
                </a:solidFill>
              </a:rPr>
              <a:t>PM knows when Slack data may be incomplete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502920" y="6492240"/>
            <a:ext cx="10972800" cy="29260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000" b="1" i="0">
                <a:solidFill>
                  <a:srgbClr val="4F6BF5"/>
                </a:solidFill>
              </a:rPr>
              <a:t>PM CHECKLIST  ·  Iteration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502920" y="6784848"/>
            <a:ext cx="10972800" cy="32004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0" i="0">
                <a:solidFill>
                  <a:srgbClr val="34D399"/>
                </a:solidFill>
              </a:rPr>
              <a:t>✓  Every fix traces back to eval data   ✓  Prioritised by impact on user trust   ✓  All shipped and live in production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502920" y="274320"/>
            <a:ext cx="109728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800" b="1" i="0">
                <a:solidFill>
                  <a:srgbClr val="FFFFFF"/>
                </a:solidFill>
              </a:rPr>
              <a:t>The PM Checklist — All 4 Phases</a:t>
            </a:r>
          </a:p>
        </p:txBody>
      </p:sp>
      <p:sp>
        <p:nvSpPr>
          <p:cNvPr id="3" name="Rectangle 2"/>
          <p:cNvSpPr/>
          <p:nvPr/>
        </p:nvSpPr>
        <p:spPr>
          <a:xfrm>
            <a:off x="0" y="932688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365760" y="1078992"/>
            <a:ext cx="2743200" cy="5303520"/>
          </a:xfrm>
          <a:prstGeom prst="rect">
            <a:avLst/>
          </a:prstGeom>
          <a:solidFill>
            <a:srgbClr val="1A1D27"/>
          </a:solidFill>
          <a:ln>
            <a:solidFill>
              <a:srgbClr val="A78BFA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TextBox 4"/>
          <p:cNvSpPr txBox="1"/>
          <p:nvPr/>
        </p:nvSpPr>
        <p:spPr>
          <a:xfrm>
            <a:off x="530352" y="117043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A78BFA"/>
                </a:solidFill>
              </a:rPr>
              <a:t>Phase 1
Discovery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30352" y="18288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Quantify the problem (numbers, not feelings)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30352" y="22860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Define primary persona with specificity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30352" y="27432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TAM / SAM / SOM with assumptions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30352" y="32004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Competitive analysis — name the gap</a:t>
            </a:r>
          </a:p>
        </p:txBody>
      </p:sp>
      <p:sp>
        <p:nvSpPr>
          <p:cNvPr id="10" name="Rectangle 9"/>
          <p:cNvSpPr/>
          <p:nvPr/>
        </p:nvSpPr>
        <p:spPr>
          <a:xfrm>
            <a:off x="3291840" y="1078992"/>
            <a:ext cx="2743200" cy="5303520"/>
          </a:xfrm>
          <a:prstGeom prst="rect">
            <a:avLst/>
          </a:prstGeom>
          <a:solidFill>
            <a:srgbClr val="1A1D27"/>
          </a:solidFill>
          <a:ln>
            <a:solidFill>
              <a:srgbClr val="4F6BF5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1" name="TextBox 10"/>
          <p:cNvSpPr txBox="1"/>
          <p:nvPr/>
        </p:nvSpPr>
        <p:spPr>
          <a:xfrm>
            <a:off x="3456432" y="117043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4F6BF5"/>
                </a:solidFill>
              </a:rPr>
              <a:t>Phase 2
Design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3456432" y="18288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Explicit In / Out of scope list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3456432" y="22860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Success metrics defined before building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3456432" y="27432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Risk register with mitigation per risk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3456432" y="32004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MVP delivers the core value loop end-to-end</a:t>
            </a:r>
          </a:p>
        </p:txBody>
      </p:sp>
      <p:sp>
        <p:nvSpPr>
          <p:cNvPr id="16" name="Rectangle 15"/>
          <p:cNvSpPr/>
          <p:nvPr/>
        </p:nvSpPr>
        <p:spPr>
          <a:xfrm>
            <a:off x="6217920" y="1078992"/>
            <a:ext cx="2743200" cy="5303520"/>
          </a:xfrm>
          <a:prstGeom prst="rect">
            <a:avLst/>
          </a:prstGeom>
          <a:solidFill>
            <a:srgbClr val="1A1D27"/>
          </a:solidFill>
          <a:ln>
            <a:solidFill>
              <a:srgbClr val="34D399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7" name="TextBox 16"/>
          <p:cNvSpPr txBox="1"/>
          <p:nvPr/>
        </p:nvSpPr>
        <p:spPr>
          <a:xfrm>
            <a:off x="6382512" y="117043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34D399"/>
                </a:solidFill>
              </a:rPr>
              <a:t>Phase 3
Build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382512" y="18288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Architecture decisions documented with why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6382512" y="22860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Key trade-offs called out explicitly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6382512" y="27432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Can explain tech in 60 seconds to a stakeholder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6382512" y="32004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Risk register kept up to date</a:t>
            </a:r>
          </a:p>
        </p:txBody>
      </p:sp>
      <p:sp>
        <p:nvSpPr>
          <p:cNvPr id="22" name="Rectangle 21"/>
          <p:cNvSpPr/>
          <p:nvPr/>
        </p:nvSpPr>
        <p:spPr>
          <a:xfrm>
            <a:off x="9144000" y="1078992"/>
            <a:ext cx="2743200" cy="5303520"/>
          </a:xfrm>
          <a:prstGeom prst="rect">
            <a:avLst/>
          </a:prstGeom>
          <a:solidFill>
            <a:srgbClr val="1A1D27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9308592" y="1170432"/>
            <a:ext cx="237744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300" b="1" i="0">
                <a:solidFill>
                  <a:srgbClr val="F87171"/>
                </a:solidFill>
              </a:rPr>
              <a:t>Phase 4
Eval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9308592" y="18288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Eval plan written before shipping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9308592" y="22860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Mix automated + human + hybrid scoring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9308592" y="27432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Every edge case has a root cause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9308592" y="3200400"/>
            <a:ext cx="242316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200" b="0" i="0">
                <a:solidFill>
                  <a:srgbClr val="A0A8B8"/>
                </a:solidFill>
              </a:rPr>
              <a:t>✓  v2 fixes traceable to eval data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502920" y="6492240"/>
            <a:ext cx="1097280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1500" b="1" i="0">
                <a:solidFill>
                  <a:srgbClr val="4F6BF5"/>
                </a:solidFill>
              </a:rPr>
              <a:t>A great PM doesn't just ship — they show their work at every phase.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914400" y="2286000"/>
            <a:ext cx="100584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5600" b="1" i="0">
                <a:solidFill>
                  <a:srgbClr val="FFFFFF"/>
                </a:solidFill>
              </a:rPr>
              <a:t>Live Demo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566160"/>
            <a:ext cx="100584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sz="2000" b="0" i="0">
                <a:solidFill>
                  <a:srgbClr val="4F6BF5"/>
                </a:solidFill>
              </a:rPr>
              <a:t>seam-ui-ebon.vercel.app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286000" y="443484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A8B8"/>
                </a:solidFill>
              </a:rPr>
              <a:t>→  "Why did Apex decide to build SAML 2.0 SSO?"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2286000" y="489204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A8B8"/>
                </a:solidFill>
              </a:rPr>
              <a:t>→  "What did the build vs buy AI analysis conclude?"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286000" y="5349240"/>
            <a:ext cx="7589520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1">
                <a:solidFill>
                  <a:srgbClr val="A0A8B8"/>
                </a:solidFill>
              </a:rPr>
              <a:t>→  "Tell me about Apex — revenue, products, stakeholders"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117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1371600" y="1645920"/>
            <a:ext cx="9144000" cy="109728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7200" b="1" i="0">
                <a:solidFill>
                  <a:srgbClr val="FFFFFF"/>
                </a:solidFill>
              </a:rPr>
              <a:t>seam.</a:t>
            </a:r>
          </a:p>
        </p:txBody>
      </p:sp>
      <p:sp>
        <p:nvSpPr>
          <p:cNvPr id="3" name="Oval 2"/>
          <p:cNvSpPr/>
          <p:nvPr/>
        </p:nvSpPr>
        <p:spPr>
          <a:xfrm>
            <a:off x="4074572" y="1925732"/>
            <a:ext cx="25592" cy="25592"/>
          </a:xfrm>
          <a:prstGeom prst="ellipse">
            <a:avLst/>
          </a:prstGeom>
          <a:solidFill>
            <a:srgbClr val="4F6BF5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1371600" y="2880360"/>
            <a:ext cx="8229600" cy="59436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2200" b="0" i="0">
                <a:solidFill>
                  <a:srgbClr val="A0A8B8"/>
                </a:solidFill>
              </a:rPr>
              <a:t>One query. Every answer. All your tools.</a:t>
            </a:r>
          </a:p>
        </p:txBody>
      </p:sp>
      <p:sp>
        <p:nvSpPr>
          <p:cNvPr id="5" name="Rectangle 4"/>
          <p:cNvSpPr/>
          <p:nvPr/>
        </p:nvSpPr>
        <p:spPr>
          <a:xfrm>
            <a:off x="0" y="3566160"/>
            <a:ext cx="12188952" cy="12700"/>
          </a:xfrm>
          <a:prstGeom prst="rect">
            <a:avLst/>
          </a:prstGeom>
          <a:solidFill>
            <a:srgbClr val="2A2D3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TextBox 5"/>
          <p:cNvSpPr txBox="1"/>
          <p:nvPr/>
        </p:nvSpPr>
        <p:spPr>
          <a:xfrm>
            <a:off x="1371600" y="3749039"/>
            <a:ext cx="9144000" cy="45720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400" b="0" i="0">
                <a:solidFill>
                  <a:srgbClr val="A0A8B8"/>
                </a:solidFill>
              </a:rPr>
              <a:t>Built by: Gunjan  ·  Capstone Cohort 6  ·  Deployed at seam-ui-ebon.vercel.app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